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5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0584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E07C31"/>
                </a:solidFill>
                <a:latin typeface="Aptos"/>
              </a:defRPr>
            </a:pPr>
            <a:r>
              <a:t>UE24CS352A · MACHINE LEARNING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1417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6F5F0"/>
                </a:solidFill>
                <a:latin typeface="Aptos Display"/>
              </a:defRPr>
            </a:pPr>
            <a:r>
              <a:t>Keyword Recommendation</a:t>
            </a:r>
          </a:p>
          <a:p>
            <a:pPr>
              <a:spcAft>
                <a:spcPts val="500"/>
              </a:spcAft>
              <a:defRPr sz="3400" b="1">
                <a:solidFill>
                  <a:srgbClr val="F6F5F0"/>
                </a:solidFill>
                <a:latin typeface="Aptos Display"/>
              </a:defRPr>
            </a:pPr>
            <a:r>
              <a:t>for Clinical Trial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3246120"/>
            <a:ext cx="100584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BEC8D6"/>
                </a:solidFill>
                <a:latin typeface="Aptos"/>
              </a:defRPr>
            </a:pPr>
            <a:r>
              <a:t>Collaborative filtering on Medical Subject Headings (MeSH)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4617720"/>
            <a:ext cx="100584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5F0"/>
                </a:solidFill>
                <a:latin typeface="Aptos"/>
              </a:defRPr>
            </a:pPr>
            <a:r>
              <a:t>Ramneek Gautam · Rufus Thomas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010912"/>
            <a:ext cx="100584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C8D6"/>
                </a:solidFill>
                <a:latin typeface="Aptos"/>
              </a:defRPr>
            </a:pPr>
            <a:r>
              <a:t>Review deck · source statistics preserved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6080760"/>
            <a:ext cx="10058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EC8D6"/>
                </a:solidFill>
                <a:latin typeface="Aptos"/>
              </a:defRPr>
            </a:pPr>
            <a:r>
              <a:t>Existing slide figures and later experimental runs are kept distinct.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8253E"/>
                </a:solidFill>
                <a:latin typeface="Aptos Display"/>
              </a:defRPr>
            </a:pPr>
            <a:r>
              <a:t>Searchers miss relevant medical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E07C31"/>
                </a:solidFill>
                <a:latin typeface="Aptos"/>
              </a:defRPr>
            </a:pPr>
            <a:r>
              <a:t>01 · PROBLEM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0584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UE24CS352A · CF MeSH keyword recommender · source-labelled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6126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632"/>
                </a:solidFill>
                <a:latin typeface="Aptos"/>
              </a:defRPr>
            </a:pPr>
            <a:r>
              <a:t>•  Clinical-trial queries are often short and omit related clinical concepts.</a:t>
            </a:r>
          </a:p>
          <a:p>
            <a:pPr>
              <a:spcAft>
                <a:spcPts val="1200"/>
              </a:spcAft>
              <a:defRPr sz="1800">
                <a:solidFill>
                  <a:srgbClr val="1E2632"/>
                </a:solidFill>
                <a:latin typeface="Aptos"/>
              </a:defRPr>
            </a:pPr>
            <a:r>
              <a:t>•  Lexical retrieval can only exploit terms represented in the query or index.</a:t>
            </a:r>
          </a:p>
          <a:p>
            <a:pPr>
              <a:spcAft>
                <a:spcPts val="1200"/>
              </a:spcAft>
              <a:defRPr sz="1800">
                <a:solidFill>
                  <a:srgbClr val="1E2632"/>
                </a:solidFill>
                <a:latin typeface="Aptos"/>
              </a:defRPr>
            </a:pPr>
            <a:r>
              <a:t>•  The recommender predicts additional MeSH concepts that may expand a query before retrieval.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54480"/>
            <a:ext cx="4023360" cy="2743200"/>
          </a:xfrm>
          <a:prstGeom prst="roundRect">
            <a:avLst/>
          </a:prstGeom>
          <a:solidFill>
            <a:srgbClr val="223656"/>
          </a:solidFill>
          <a:ln>
            <a:solidFill>
              <a:srgbClr val="22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61504" y="1664207"/>
            <a:ext cx="373075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Target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1504" y="2029967"/>
            <a:ext cx="3730752" cy="21945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Query → detected MeSH concepts → predicted additional concepts → expanded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66360"/>
            <a:ext cx="1069848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E07C31"/>
                </a:solidFill>
                <a:latin typeface="Aptos"/>
              </a:defRPr>
            </a:pPr>
            <a:r>
              <a:t>Research question: can co-occurrence patterns across trial records predict useful missing terms?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50,000 trial records × 1,000 MeSH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E07C31"/>
                </a:solidFill>
                <a:latin typeface="Aptos"/>
              </a:defRPr>
            </a:pPr>
            <a:r>
              <a:t>02 · DATASET AND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0584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UE24CS352A · CF MeSH keyword recommender · source-labelled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3</a:t>
            </a:r>
          </a:p>
        </p:txBody>
      </p:sp>
      <p:pic>
        <p:nvPicPr>
          <p:cNvPr id="6" name="Picture 5" descr="dataset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49224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43800" y="1508760"/>
            <a:ext cx="3840480" cy="2423160"/>
          </a:xfrm>
          <a:prstGeom prst="roundRect">
            <a:avLst/>
          </a:prstGeom>
          <a:solidFill>
            <a:srgbClr val="223656"/>
          </a:solidFill>
          <a:ln>
            <a:solidFill>
              <a:srgbClr val="22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0104" y="1618488"/>
            <a:ext cx="354787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Representation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0104" y="1984248"/>
            <a:ext cx="3547872" cy="187451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Trials are documents; MeSH terms are items. A TF–IDF utility matrix encodes term importance per trial.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1051560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6F5F0"/>
                </a:solidFill>
                <a:latin typeface="Aptos"/>
              </a:defRPr>
            </a:pPr>
            <a:r>
              <a:t>The source write-up reports 3.2% non-zero cells. A later demo run reported a different density; these run-specific values must not be merged.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8253E"/>
                </a:solidFill>
                <a:latin typeface="Aptos Display"/>
              </a:defRPr>
            </a:pPr>
            <a:r>
              <a:t>From free text to a sparse utility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E07C31"/>
                </a:solidFill>
                <a:latin typeface="Aptos"/>
              </a:defRPr>
            </a:pPr>
            <a:r>
              <a:t>03 ·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0584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UE24CS352A · CF MeSH keyword recommender · source-labelled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2011680"/>
          </a:xfrm>
          <a:prstGeom prst="roundRect">
            <a:avLst/>
          </a:prstGeom>
          <a:solidFill>
            <a:srgbClr val="EBF0F7"/>
          </a:solidFill>
          <a:ln>
            <a:solidFill>
              <a:srgbClr val="EB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27048"/>
            <a:ext cx="313639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8253E"/>
                </a:solidFill>
                <a:latin typeface="Aptos"/>
              </a:defRPr>
            </a:pPr>
            <a:r>
              <a:t>1 · Normalize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892808"/>
            <a:ext cx="3136392" cy="1463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E2632"/>
                </a:solidFill>
                <a:latin typeface="Aptos"/>
              </a:defRPr>
            </a:pPr>
            <a:r>
              <a:t>MeSH descriptors and entry-term synonyms map to canonical concepts.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2011680"/>
          </a:xfrm>
          <a:prstGeom prst="roundRect">
            <a:avLst/>
          </a:prstGeom>
          <a:solidFill>
            <a:srgbClr val="EBF0F7"/>
          </a:solidFill>
          <a:ln>
            <a:solidFill>
              <a:srgbClr val="EB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527048"/>
            <a:ext cx="313639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8253E"/>
                </a:solidFill>
                <a:latin typeface="Aptos"/>
              </a:defRPr>
            </a:pPr>
            <a:r>
              <a:t>2 · Extract mentions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1892808"/>
            <a:ext cx="3136392" cy="1463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E2632"/>
                </a:solidFill>
                <a:latin typeface="Aptos"/>
              </a:defRPr>
            </a:pPr>
            <a:r>
              <a:t>A word-level Trie scans text with longest-match-first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429000" cy="2011680"/>
          </a:xfrm>
          <a:prstGeom prst="roundRect">
            <a:avLst/>
          </a:prstGeom>
          <a:solidFill>
            <a:srgbClr val="EBF0F7"/>
          </a:solidFill>
          <a:ln>
            <a:solidFill>
              <a:srgbClr val="EB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527048"/>
            <a:ext cx="313639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8253E"/>
                </a:solidFill>
                <a:latin typeface="Aptos"/>
              </a:defRPr>
            </a:pPr>
            <a:r>
              <a:t>3 · Weight terms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1892808"/>
            <a:ext cx="3136392" cy="1463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E2632"/>
                </a:solidFill>
                <a:latin typeface="Aptos"/>
              </a:defRPr>
            </a:pPr>
            <a:r>
              <a:t>Counts become TF–IDF values; absent terms have zero utility.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77639"/>
            <a:ext cx="1033272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53E"/>
                </a:solidFill>
                <a:latin typeface="Aptos"/>
              </a:defRPr>
            </a:pPr>
            <a:r>
              <a:t>Uᵢⱼ = log₁₀(1 + countᵢⱼ) × log₁₀(N / dfᵢ)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1042416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E2632"/>
                </a:solidFill>
                <a:latin typeface="Aptos"/>
              </a:defRPr>
            </a:pPr>
            <a:r>
              <a:t>The source excludes the ambiguous concept “Volition”. The 1,000-term vocabulary also limits the search space.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5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Predict a term from its neighbours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E07C31"/>
                </a:solidFill>
                <a:latin typeface="Aptos"/>
              </a:defRPr>
            </a:pPr>
            <a:r>
              <a:t>04 ·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0584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UE24CS352A · CF MeSH keyword recommender · source-labelled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9848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84AADC"/>
                </a:solidFill>
                <a:latin typeface="Aptos"/>
              </a:defRPr>
            </a:pPr>
            <a:r>
              <a:t>R̂ᵢⱼ = ReLU( Σf Wᵢf · Θᵢf · Rfⱼ + bᵢ 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3383280" cy="2011680"/>
          </a:xfrm>
          <a:prstGeom prst="roundRect">
            <a:avLst/>
          </a:prstGeom>
          <a:solidFill>
            <a:srgbClr val="223656"/>
          </a:solidFill>
          <a:ln>
            <a:solidFill>
              <a:srgbClr val="22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441448"/>
            <a:ext cx="309067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Fixed neighbour weights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807208"/>
            <a:ext cx="3090672" cy="1463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W is based on cosine similarity between term profiles; its diagonal is zero.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331720"/>
            <a:ext cx="3383280" cy="2011680"/>
          </a:xfrm>
          <a:prstGeom prst="roundRect">
            <a:avLst/>
          </a:prstGeom>
          <a:solidFill>
            <a:srgbClr val="223656"/>
          </a:solidFill>
          <a:ln>
            <a:solidFill>
              <a:srgbClr val="22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2441448"/>
            <a:ext cx="309067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Learned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807208"/>
            <a:ext cx="3090672" cy="1463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Θ and b are optimized with mini-batch gradient descent and L2 regularization.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331720"/>
            <a:ext cx="3383280" cy="2011680"/>
          </a:xfrm>
          <a:prstGeom prst="roundRect">
            <a:avLst/>
          </a:prstGeom>
          <a:solidFill>
            <a:srgbClr val="223656"/>
          </a:solidFill>
          <a:ln>
            <a:solidFill>
              <a:srgbClr val="22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2441448"/>
            <a:ext cx="309067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Non-negative 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2807208"/>
            <a:ext cx="3090672" cy="1463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ReLU constrains predictions to the non-negative TF–IDF range.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83480"/>
            <a:ext cx="1069848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5F0"/>
                </a:solidFill>
                <a:latin typeface="Aptos"/>
              </a:defRPr>
            </a:pPr>
            <a:r>
              <a:t>Evaluation masks 50% of each test trial’s non-zero terms and ranks candidate terms at K=3.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8253E"/>
                </a:solidFill>
                <a:latin typeface="Aptos Display"/>
              </a:defRPr>
            </a:pPr>
            <a:r>
              <a:t>Evaluation must match the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E07C31"/>
                </a:solidFill>
                <a:latin typeface="Aptos"/>
              </a:defRPr>
            </a:pPr>
            <a:r>
              <a:t>05 · METRICS AND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0584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UE24CS352A · CF MeSH keyword recommender · source-labelled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429000" cy="1965960"/>
          </a:xfrm>
          <a:prstGeom prst="roundRect">
            <a:avLst/>
          </a:prstGeom>
          <a:solidFill>
            <a:srgbClr val="EBF0F7"/>
          </a:solidFill>
          <a:ln>
            <a:solidFill>
              <a:srgbClr val="EB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35607"/>
            <a:ext cx="313639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8253E"/>
                </a:solidFill>
                <a:latin typeface="Aptos"/>
              </a:defRPr>
            </a:pPr>
            <a:r>
              <a:t>APTK (K=3)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801368"/>
            <a:ext cx="3136392" cy="141731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E2632"/>
                </a:solidFill>
                <a:latin typeface="Aptos"/>
              </a:defRPr>
            </a:pPr>
            <a:r>
              <a:t>Measures top-three ranking precision against masked-out terms.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965960"/>
          </a:xfrm>
          <a:prstGeom prst="roundRect">
            <a:avLst/>
          </a:prstGeom>
          <a:solidFill>
            <a:srgbClr val="EBF0F7"/>
          </a:solidFill>
          <a:ln>
            <a:solidFill>
              <a:srgbClr val="EB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435607"/>
            <a:ext cx="313639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8253E"/>
                </a:solidFill>
                <a:latin typeface="Aptos"/>
              </a:defRPr>
            </a:pPr>
            <a:r>
              <a:t>MSE / MSER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1801368"/>
            <a:ext cx="3136392" cy="141731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E2632"/>
                </a:solidFill>
                <a:latin typeface="Aptos"/>
              </a:defRPr>
            </a:pPr>
            <a:r>
              <a:t>Measure reconstruction error on the TF–IDF utility scale.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429000" cy="1965960"/>
          </a:xfrm>
          <a:prstGeom prst="roundRect">
            <a:avLst/>
          </a:prstGeom>
          <a:solidFill>
            <a:srgbClr val="EBF0F7"/>
          </a:solidFill>
          <a:ln>
            <a:solidFill>
              <a:srgbClr val="EB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435607"/>
            <a:ext cx="313639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8253E"/>
                </a:solidFill>
                <a:latin typeface="Aptos"/>
              </a:defRPr>
            </a:pPr>
            <a:r>
              <a:t>Bootstrap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1801368"/>
            <a:ext cx="3136392" cy="141731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E2632"/>
                </a:solidFill>
                <a:latin typeface="Aptos"/>
              </a:defRPr>
            </a:pPr>
            <a:r>
              <a:t>Quantifies test-document sampling uncertainty for a particular run.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9476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E2632"/>
                </a:solidFill>
                <a:latin typeface="Aptos"/>
              </a:defRPr>
            </a:pPr>
            <a:r>
              <a:t>•  Popularity recommends frequent absent terms; item-kNN uses cosine similarity between term profiles.</a:t>
            </a:r>
          </a:p>
          <a:p>
            <a:pPr>
              <a:spcAft>
                <a:spcPts val="1200"/>
              </a:spcAft>
              <a:defRPr sz="1400">
                <a:solidFill>
                  <a:srgbClr val="1E2632"/>
                </a:solidFill>
                <a:latin typeface="Aptos"/>
              </a:defRPr>
            </a:pPr>
            <a:r>
              <a:t>•  A single random split does not establish robustness across alternative splits.</a:t>
            </a:r>
          </a:p>
          <a:p>
            <a:pPr>
              <a:spcAft>
                <a:spcPts val="1200"/>
              </a:spcAft>
              <a:defRPr sz="1400">
                <a:solidFill>
                  <a:srgbClr val="1E2632"/>
                </a:solidFill>
                <a:latin typeface="Aptos"/>
              </a:defRPr>
            </a:pPr>
            <a:r>
              <a:t>•  Masked-term recovery is a proxy; it does not by itself establish better end-to-end trial retrieval.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5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Model comparison: existing slide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E07C31"/>
                </a:solidFill>
                <a:latin typeface="Aptos"/>
              </a:defRPr>
            </a:pPr>
            <a:r>
              <a:t>06 · PRESERVED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0584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UE24CS352A · CF MeSH keyword recommender · source-labelled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6" name="Picture 5" descr="apkt_exist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88720"/>
            <a:ext cx="7498079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08760"/>
            <a:ext cx="2971800" cy="2834640"/>
          </a:xfrm>
          <a:prstGeom prst="roundRect">
            <a:avLst/>
          </a:prstGeom>
          <a:solidFill>
            <a:srgbClr val="223656"/>
          </a:solidFill>
          <a:ln>
            <a:solidFill>
              <a:srgbClr val="22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04504" y="1618488"/>
            <a:ext cx="267919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4504" y="1984248"/>
            <a:ext cx="2679192" cy="2286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CF + ReLU: 0.4776</a:t>
            </a:r>
          </a:p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Popularity: 0.4476</a:t>
            </a:r>
          </a:p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Item-kNN: 0.4162</a:t>
            </a:r>
          </a:p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Random: 0.0152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10698480" cy="4389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E07C31"/>
                </a:solidFill>
                <a:latin typeface="Aptos"/>
              </a:defRPr>
            </a:pPr>
            <a:r>
              <a:t>These are the figures in the existing CF keyword recommender presentation; they remain the reference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8253E"/>
                </a:solidFill>
                <a:latin typeface="Aptos Display"/>
              </a:defRPr>
            </a:pPr>
            <a:r>
              <a:t>Uncertainty: technical write-up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E07C31"/>
                </a:solidFill>
                <a:latin typeface="Aptos"/>
              </a:defRPr>
            </a:pPr>
            <a:r>
              <a:t>07 · SEPARATE REPORTED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0584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UE24CS352A · CF MeSH keyword recommender · source-labelled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6" name="Picture 5" descr="apkt_ci_writeup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68096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508760"/>
            <a:ext cx="2880360" cy="3108960"/>
          </a:xfrm>
          <a:prstGeom prst="roundRect">
            <a:avLst/>
          </a:prstGeom>
          <a:solidFill>
            <a:srgbClr val="EBF0F7"/>
          </a:solidFill>
          <a:ln>
            <a:solidFill>
              <a:srgbClr val="EB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95944" y="1618488"/>
            <a:ext cx="258775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8253E"/>
                </a:solidFill>
                <a:latin typeface="Aptos"/>
              </a:defRPr>
            </a:pPr>
            <a:r>
              <a:t>Source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95944" y="1984248"/>
            <a:ext cx="2587752" cy="2560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E2632"/>
                </a:solidFill>
                <a:latin typeface="Aptos"/>
              </a:defRPr>
            </a:pPr>
            <a:r>
              <a:t>CF + ReLU 0.4529 [0.4444, 0.4622]</a:t>
            </a:r>
          </a:p>
          <a:p>
            <a:pPr>
              <a:spcAft>
                <a:spcPts val="500"/>
              </a:spcAft>
              <a:defRPr sz="1100" b="0">
                <a:solidFill>
                  <a:srgbClr val="1E2632"/>
                </a:solidFill>
                <a:latin typeface="Aptos"/>
              </a:defRPr>
            </a:pPr>
            <a:r>
              <a:t>Item-kNN 0.3938 [0.3844, 0.4026]</a:t>
            </a:r>
          </a:p>
          <a:p>
            <a:pPr>
              <a:spcAft>
                <a:spcPts val="500"/>
              </a:spcAft>
              <a:defRPr sz="1100" b="0">
                <a:solidFill>
                  <a:srgbClr val="1E2632"/>
                </a:solidFill>
                <a:latin typeface="Aptos"/>
              </a:defRPr>
            </a:pPr>
            <a:r>
              <a:t>Popularity 0.3961 [0.3879, 0.4050]</a:t>
            </a:r>
          </a:p>
          <a:p>
            <a:pPr>
              <a:spcAft>
                <a:spcPts val="500"/>
              </a:spcAft>
              <a:defRPr sz="1100" b="0">
                <a:solidFill>
                  <a:srgbClr val="1E2632"/>
                </a:solidFill>
                <a:latin typeface="Aptos"/>
              </a:defRPr>
            </a:pPr>
            <a:r>
              <a:t>Random 0.0143 [0.0123, 0.0162]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1060704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E07C31"/>
                </a:solidFill>
                <a:latin typeface="Aptos"/>
              </a:defRPr>
            </a:pPr>
            <a:r>
              <a:t>Do not attach these confidence intervals to the 0.4776 slide figures: they come from a different reported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5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Later demo run: confidence intervals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E07C31"/>
                </a:solidFill>
                <a:latin typeface="Aptos"/>
              </a:defRPr>
            </a:pPr>
            <a:r>
              <a:t>08 · SEPARATE DEMO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0584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UE24CS352A · CF MeSH keyword recommender · source-labelled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6" name="Picture 5" descr="apkt_ci_demo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68096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508760"/>
            <a:ext cx="2880360" cy="3108960"/>
          </a:xfrm>
          <a:prstGeom prst="roundRect">
            <a:avLst/>
          </a:prstGeom>
          <a:solidFill>
            <a:srgbClr val="223656"/>
          </a:solidFill>
          <a:ln>
            <a:solidFill>
              <a:srgbClr val="22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95944" y="1618488"/>
            <a:ext cx="258775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Demo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95944" y="1984248"/>
            <a:ext cx="2587752" cy="2560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CF + ReLU 0.3193 [0.3116, 0.3279]</a:t>
            </a:r>
          </a:p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Item-kNN 0.3016 [0.2937, 0.3097]</a:t>
            </a:r>
          </a:p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Popularity 0.1064 [0.1013, 0.1118]</a:t>
            </a:r>
          </a:p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Random 0.0127 [0.0109, 0.0147]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EC8D6"/>
                </a:solidFill>
                <a:latin typeface="Aptos"/>
              </a:defRPr>
            </a:pPr>
            <a:r>
              <a:t>Run configuration: 50,000 documents × 1,000 terms; APTK=0.3193 for CF+ReLU. Separate from the original slide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8253E"/>
                </a:solidFill>
                <a:latin typeface="Aptos Display"/>
              </a:defRPr>
            </a:pPr>
            <a:r>
              <a:t>Reported scores vary across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E07C31"/>
                </a:solidFill>
                <a:latin typeface="Aptos"/>
              </a:defRPr>
            </a:pPr>
            <a:r>
              <a:t>09 · COMPARABILITY CAVEAT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0584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UE24CS352A · CF MeSH keyword recommender · source-labelled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6" name="Picture 5" descr="apkt_ru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58952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508760"/>
            <a:ext cx="2926080" cy="3017520"/>
          </a:xfrm>
          <a:prstGeom prst="roundRect">
            <a:avLst/>
          </a:prstGeom>
          <a:solidFill>
            <a:srgbClr val="EBF0F7"/>
          </a:solidFill>
          <a:ln>
            <a:solidFill>
              <a:srgbClr val="EB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0224" y="1618488"/>
            <a:ext cx="263347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8253E"/>
                </a:solidFill>
                <a:latin typeface="Aptos"/>
              </a:defRPr>
            </a:pPr>
            <a:r>
              <a:t>Interpret cautiously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50224" y="1984248"/>
            <a:ext cx="2633472" cy="246887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E2632"/>
                </a:solidFill>
                <a:latin typeface="Aptos"/>
              </a:defRPr>
            </a:pPr>
            <a:r>
              <a:t>The source slide, technical write-up, and later demo report different APTK values. Vocabulary, split, masking, or configuration may differ; the files do not establish protocol equivalence.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E07C31"/>
                </a:solidFill>
                <a:latin typeface="Aptos"/>
              </a:defRPr>
            </a:pPr>
            <a:r>
              <a:t>This chart is descriptive, not a controlled comparison of model improvements.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5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A ranking score can still look generic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E07C31"/>
                </a:solidFill>
                <a:latin typeface="Aptos"/>
              </a:defRPr>
            </a:pPr>
            <a:r>
              <a:t>10 · QUALITATIVE 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0584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UE24CS352A · CF MeSH keyword recommender · source-labelled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6F5F0"/>
                </a:solidFill>
                <a:latin typeface="Aptos"/>
              </a:defRPr>
            </a:pPr>
            <a:r>
              <a:t>•  Hand-written lung-cancer, hypertension and Alzheimer’s queries returned recurring broad terms.</a:t>
            </a:r>
          </a:p>
          <a:p>
            <a:pPr>
              <a:spcAft>
                <a:spcPts val="1200"/>
              </a:spcAft>
              <a:defRPr sz="1600">
                <a:solidFill>
                  <a:srgbClr val="F6F5F0"/>
                </a:solidFill>
                <a:latin typeface="Aptos"/>
              </a:defRPr>
            </a:pPr>
            <a:r>
              <a:t>•  Examples included Therapeutics, Safety, Disease, Child and General Surgery.</a:t>
            </a:r>
          </a:p>
          <a:p>
            <a:pPr>
              <a:spcAft>
                <a:spcPts val="1200"/>
              </a:spcAft>
              <a:defRPr sz="1600">
                <a:solidFill>
                  <a:srgbClr val="F6F5F0"/>
                </a:solidFill>
                <a:latin typeface="Aptos"/>
              </a:defRPr>
            </a:pPr>
            <a:r>
              <a:t>•  Neoplasms appeared in the Alzheimer’s example despite weak query-specific fit.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4937760" cy="2926080"/>
          </a:xfrm>
          <a:prstGeom prst="roundRect">
            <a:avLst/>
          </a:prstGeom>
          <a:solidFill>
            <a:srgbClr val="223656"/>
          </a:solidFill>
          <a:ln>
            <a:solidFill>
              <a:srgbClr val="22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2784" y="1664207"/>
            <a:ext cx="464515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Candidate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2784" y="2029967"/>
            <a:ext cx="4645152" cy="23774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A query-specific score can discount terms that receive high predictions for nearly every query. This is exploratory until evaluated quantitatively.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03520"/>
            <a:ext cx="1042416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BEC8D6"/>
                </a:solidFill>
                <a:latin typeface="Aptos"/>
              </a:defRPr>
            </a:pPr>
            <a:r>
              <a:t>APTK rewards masked-term recovery; clinical usefulness requires a separate evaluation.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8253E"/>
                </a:solidFill>
                <a:latin typeface="Aptos Display"/>
              </a:defRPr>
            </a:pPr>
            <a:r>
              <a:t>Hyperparameter tuning: current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E07C31"/>
                </a:solidFill>
                <a:latin typeface="Aptos"/>
              </a:defRPr>
            </a:pPr>
            <a:r>
              <a:t>11 · DEVELOPMENT-STAGE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0584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UE24CS352A · CF MeSH keyword recommender · source-labelled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337560" cy="2103120"/>
          </a:xfrm>
          <a:prstGeom prst="roundRect">
            <a:avLst/>
          </a:prstGeom>
          <a:solidFill>
            <a:srgbClr val="EBF0F7"/>
          </a:solidFill>
          <a:ln>
            <a:solidFill>
              <a:srgbClr val="EB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27048"/>
            <a:ext cx="304495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8253E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1892808"/>
            <a:ext cx="3044952" cy="155447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E2632"/>
                </a:solidFill>
                <a:latin typeface="Aptos"/>
              </a:defRPr>
            </a:pPr>
            <a:r>
              <a:t>Select τ, k, λ and learning rate using development APTK; report complementary error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2103120"/>
          </a:xfrm>
          <a:prstGeom prst="roundRect">
            <a:avLst/>
          </a:prstGeom>
          <a:solidFill>
            <a:srgbClr val="EBF0F7"/>
          </a:solidFill>
          <a:ln>
            <a:solidFill>
              <a:srgbClr val="EB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527048"/>
            <a:ext cx="304495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8253E"/>
                </a:solidFill>
                <a:latin typeface="Aptos"/>
              </a:defRPr>
            </a:pPr>
            <a:r>
              <a:t>What is known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1892808"/>
            <a:ext cx="3044952" cy="155447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E2632"/>
                </a:solidFill>
                <a:latin typeface="Aptos"/>
              </a:defRPr>
            </a:pPr>
            <a:r>
              <a:t>One later demo searched 15 configurations. The screenshot showed only the first two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337560" cy="2103120"/>
          </a:xfrm>
          <a:prstGeom prst="roundRect">
            <a:avLst/>
          </a:prstGeom>
          <a:solidFill>
            <a:srgbClr val="EBF0F7"/>
          </a:solidFill>
          <a:ln>
            <a:solidFill>
              <a:srgbClr val="EB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1527048"/>
            <a:ext cx="304495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8253E"/>
                </a:solidFill>
                <a:latin typeface="Aptos"/>
              </a:defRPr>
            </a:pPr>
            <a:r>
              <a:t>What is not known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1892808"/>
            <a:ext cx="3044952" cy="155447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E2632"/>
                </a:solidFill>
                <a:latin typeface="Aptos"/>
              </a:defRPr>
            </a:pPr>
            <a:r>
              <a:t>No full tuning table is available in the supplied context; do not invent the remaining points or claim a winner.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51960"/>
            <a:ext cx="10332720" cy="822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8253E"/>
                </a:solidFill>
                <a:latin typeface="Aptos"/>
              </a:defRPr>
            </a:pPr>
            <a:r>
              <a:t>Selection rule: fit on train → select on development → freeze configuration → evaluate held-out test once.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Next experiments that would strengthen the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E07C31"/>
                </a:solidFill>
                <a:latin typeface="Aptos"/>
              </a:defRPr>
            </a:pPr>
            <a:r>
              <a:t>12 · RESEARCH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0584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UE24CS352A · CF MeSH keyword recommender · source-labelled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E2632"/>
                </a:solidFill>
                <a:latin typeface="Aptos"/>
              </a:defRPr>
            </a:pPr>
            <a:r>
              <a:t>•  Rebuild the vocabulary and utility matrix for every cutoff; audit cache invalidation.</a:t>
            </a:r>
          </a:p>
          <a:p>
            <a:pPr>
              <a:spcAft>
                <a:spcPts val="1200"/>
              </a:spcAft>
              <a:defRPr sz="1700">
                <a:solidFill>
                  <a:srgbClr val="1E2632"/>
                </a:solidFill>
                <a:latin typeface="Aptos"/>
              </a:defRPr>
            </a:pPr>
            <a:r>
              <a:t>•  Run the same split and masking protocol for every candidate model.</a:t>
            </a:r>
          </a:p>
          <a:p>
            <a:pPr>
              <a:spcAft>
                <a:spcPts val="1200"/>
              </a:spcAft>
              <a:defRPr sz="1700">
                <a:solidFill>
                  <a:srgbClr val="1E2632"/>
                </a:solidFill>
                <a:latin typeface="Aptos"/>
              </a:defRPr>
            </a:pPr>
            <a:r>
              <a:t>•  Use development data for hyperparameter selection; keep test data untouched until the configuration is frozen.</a:t>
            </a:r>
          </a:p>
          <a:p>
            <a:pPr>
              <a:spcAft>
                <a:spcPts val="1200"/>
              </a:spcAft>
              <a:defRPr sz="1700">
                <a:solidFill>
                  <a:srgbClr val="1E2632"/>
                </a:solidFill>
                <a:latin typeface="Aptos"/>
              </a:defRPr>
            </a:pPr>
            <a:r>
              <a:t>•  Evaluate query-specific ranking with the same held-out protocol.</a:t>
            </a:r>
          </a:p>
          <a:p>
            <a:pPr>
              <a:spcAft>
                <a:spcPts val="1200"/>
              </a:spcAft>
              <a:defRPr sz="1700">
                <a:solidFill>
                  <a:srgbClr val="1E2632"/>
                </a:solidFill>
                <a:latin typeface="Aptos"/>
              </a:defRPr>
            </a:pPr>
            <a:r>
              <a:t>•  Measure retrieval quality with and without query expansion, not just masked-term precision.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5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Conclusion: a promising prototype, not yet validated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E07C31"/>
                </a:solidFill>
                <a:latin typeface="Aptos"/>
              </a:defRPr>
            </a:pPr>
            <a:r>
              <a:t>13 ·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0584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UE24CS352A · CF MeSH keyword recommender · source-labelled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7728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6F5F0"/>
                </a:solidFill>
                <a:latin typeface="Aptos"/>
              </a:defRPr>
            </a:pPr>
            <a:r>
              <a:t>•  The existing slides report CF + ReLU as the top model at APTK 0.4776.</a:t>
            </a:r>
          </a:p>
          <a:p>
            <a:pPr>
              <a:spcAft>
                <a:spcPts val="1200"/>
              </a:spcAft>
              <a:defRPr sz="1700">
                <a:solidFill>
                  <a:srgbClr val="F6F5F0"/>
                </a:solidFill>
                <a:latin typeface="Aptos"/>
              </a:defRPr>
            </a:pPr>
            <a:r>
              <a:t>•  The write-up and later demo contain distinct result sets and must remain separately labelled.</a:t>
            </a:r>
          </a:p>
          <a:p>
            <a:pPr>
              <a:spcAft>
                <a:spcPts val="1200"/>
              </a:spcAft>
              <a:defRPr sz="1700">
                <a:solidFill>
                  <a:srgbClr val="F6F5F0"/>
                </a:solidFill>
                <a:latin typeface="Aptos"/>
              </a:defRPr>
            </a:pPr>
            <a:r>
              <a:t>•  Qualitative query checks expose a gap between numerical ranking quality and query-specific relevance.</a:t>
            </a:r>
          </a:p>
          <a:p>
            <a:pPr>
              <a:spcAft>
                <a:spcPts val="1200"/>
              </a:spcAft>
              <a:defRPr sz="1700">
                <a:solidFill>
                  <a:srgbClr val="F6F5F0"/>
                </a:solidFill>
                <a:latin typeface="Aptos"/>
              </a:defRPr>
            </a:pPr>
            <a:r>
              <a:t>•  The next scientific step is a reproducible comparison and end-to-end retrieval evaluation.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E07C31"/>
                </a:solidFill>
                <a:latin typeface="Aptos"/>
              </a:defRPr>
            </a:pPr>
            <a:r>
              <a:t>No new improvement is claimed until comparable experiments establish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